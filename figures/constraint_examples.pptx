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06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224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E9E1A-3290-F411-0F8D-41764FB828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9897E0-E229-AD2A-5B74-6A4A6AEB25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B96C00-91E6-0FAB-AB2A-7CE71D812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122B-BC72-41F7-938E-33D4221D7AF9}" type="datetimeFigureOut">
              <a:rPr lang="en-US" smtClean="0"/>
              <a:t>7/14/25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88C94A-29FD-C47F-FA30-B788E8B6C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42E34-F454-82A6-5D1B-38175A521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8630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6E1A9-6BD5-79F5-AD4A-42C70E8CB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A4ED7-9784-5549-93ED-1AB1FA3A2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85E095-23F7-FC66-9299-39E257F40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122B-BC72-41F7-938E-33D4221D7AF9}" type="datetimeFigureOut">
              <a:rPr lang="en-US" smtClean="0"/>
              <a:t>7/14/25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EE25B-87B2-62C5-BBDF-6DA227386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785F8D-F55A-520A-B661-A664837C3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394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FCCE2-A829-D444-333A-5A5234BCA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1A5088-95DC-54D7-F5E1-1F3C95A57D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AAC2A1-D83A-330C-491E-C655D988E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122B-BC72-41F7-938E-33D4221D7AF9}" type="datetimeFigureOut">
              <a:rPr lang="en-US" smtClean="0"/>
              <a:t>7/14/25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FAF30-2DD5-EE3E-3355-9CFDFAB71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394C2-0AEA-54C7-A5C6-B352C5EEB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3223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7B5E2-1DD3-092C-79DF-FF45505C5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C2A9A6-47D5-3FEE-D69B-A0AD05552A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86D120-321D-82DC-EAA4-B0F8BDF7EE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1BD9A1-AADE-DA1D-9CDD-989B6AD8F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122B-BC72-41F7-938E-33D4221D7AF9}" type="datetimeFigureOut">
              <a:rPr lang="en-US" smtClean="0"/>
              <a:t>7/14/25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A83F29-0B1F-7293-F55A-923DD51DC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5E11C9-1F3A-1769-246B-A3BAD101C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405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4547C-AF6B-296E-395E-18C45349F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374A49-A2C6-456A-7A4A-1CEE4DD241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5B7AB0-2C2D-B4A8-4F53-BE17EE6D21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2FD67E-90DB-5AEA-8CA5-396309E280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8CA659-514E-F980-AF0B-07B925664F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DCE81A-EA91-1C76-82C4-4C7A367BB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122B-BC72-41F7-938E-33D4221D7AF9}" type="datetimeFigureOut">
              <a:rPr lang="en-US" smtClean="0"/>
              <a:t>7/14/25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2CB618-0669-90AE-A023-880BE8F0B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07DFE1-472C-1DA2-454F-59E1591EA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203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03934-2114-41EA-B6B2-8ECBB2A72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8B83E4E-C188-72AC-9F5A-4AFD99879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122B-BC72-41F7-938E-33D4221D7AF9}" type="datetimeFigureOut">
              <a:rPr lang="en-US" smtClean="0"/>
              <a:t>7/14/25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BCF006-568C-EB39-3352-F45D155D0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0E437-3241-867C-4630-E919CE8E0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034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086828-299B-7FDF-C80F-0AA1CCB37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122B-BC72-41F7-938E-33D4221D7AF9}" type="datetimeFigureOut">
              <a:rPr lang="en-US" smtClean="0"/>
              <a:t>7/14/25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B58C26-BDF0-2B84-6BBB-80A971812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E152C1-C304-B122-B96B-E544F9A83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6667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F6398-F25C-B56C-4C44-DEAA547E3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1A4BC2-9C10-EAF9-8455-7AC9422EA2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EF4CBC-ABED-E0CA-93F1-BCE3EAB9B7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00B2C3-4116-279D-D87B-F89AE7B3E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122B-BC72-41F7-938E-33D4221D7AF9}" type="datetimeFigureOut">
              <a:rPr lang="en-US" smtClean="0"/>
              <a:t>7/14/25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85DAA-2A6A-0D58-0DF1-8C6D4B486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1C4BD-9953-D499-6EC2-D9C22EF13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5795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805D9-CCDE-BF3D-9027-3446CBE1C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D03260-6C7A-D5E3-D40E-B9054E6100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8EC3D0-07A4-A7ED-4F5F-94380CB342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C2109D-24EA-898B-385A-C5DCC0D9B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122B-BC72-41F7-938E-33D4221D7AF9}" type="datetimeFigureOut">
              <a:rPr lang="en-US" smtClean="0"/>
              <a:t>7/14/25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BA61EB-0205-5330-A727-F2E6FD53B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E861BF-BD07-EA6F-8B60-FA5DFF908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083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B9C8C-32BD-0398-40C8-29CEB0246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59FA94-7C52-30F9-3CAE-DDC3807633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B47468-0919-FA91-06B3-115D5FDEB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122B-BC72-41F7-938E-33D4221D7AF9}" type="datetimeFigureOut">
              <a:rPr lang="en-US" smtClean="0"/>
              <a:t>7/14/25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1DECD2-0E01-3A37-D092-FD3495E23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FF162F-F7D6-B34B-C63A-3112AB00F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2320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45C4AF-B6A6-9C64-EF40-C3BEFA2D8E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536D58-BCE9-52BA-A2C6-36E4ADB6A2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34F41B-59F4-3F5B-FDA5-E54EFA277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0122B-BC72-41F7-938E-33D4221D7AF9}" type="datetimeFigureOut">
              <a:rPr lang="en-US" smtClean="0"/>
              <a:t>7/14/25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F6801B-7EBC-AEC7-36A2-02CD5C37B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790F2D-5B12-0E2C-CD80-5E242FCD6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654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C233E8-DDAB-EA00-A0E4-E8A738ED9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07ECDC-2FB8-7761-F896-3AC539C3D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6B1E4F-653C-1F01-5C02-C81282F7B8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30122B-BC72-41F7-938E-33D4221D7AF9}" type="datetimeFigureOut">
              <a:rPr lang="en-US" smtClean="0"/>
              <a:t>7/14/25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B8AE56-C4F3-B14D-DF7C-8B51811D0D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402C68-155D-78AE-D73E-291C961DC5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4CC727-E7C8-44FA-A608-4A90F12BB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3770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1CC55CFD-19EC-6C9D-9D5C-673CE1C5917E}"/>
              </a:ext>
            </a:extLst>
          </p:cNvPr>
          <p:cNvCxnSpPr>
            <a:cxnSpLocks/>
          </p:cNvCxnSpPr>
          <p:nvPr/>
        </p:nvCxnSpPr>
        <p:spPr>
          <a:xfrm>
            <a:off x="456996" y="356047"/>
            <a:ext cx="661075" cy="137458"/>
          </a:xfrm>
          <a:prstGeom prst="bentConnector3">
            <a:avLst>
              <a:gd name="adj1" fmla="val -153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9B4BA4A-818C-510D-BAC1-E974AE9D3422}"/>
              </a:ext>
            </a:extLst>
          </p:cNvPr>
          <p:cNvSpPr txBox="1"/>
          <p:nvPr/>
        </p:nvSpPr>
        <p:spPr>
          <a:xfrm>
            <a:off x="1045711" y="356875"/>
            <a:ext cx="114486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setback_side_int</a:t>
            </a:r>
            <a:endParaRPr lang="en-US" sz="1100" dirty="0">
              <a:latin typeface="Cascadia Mono Light" panose="020B0609020000020004" pitchFamily="49" charset="0"/>
              <a:ea typeface="Cascadia Mono Light" panose="020B0609020000020004" pitchFamily="49" charset="0"/>
              <a:cs typeface="Cascadia Mono Light" panose="020B0609020000020004" pitchFamily="49" charset="0"/>
            </a:endParaRP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AB6D1EFA-BA9A-AD8D-5DD2-3576A30534A8}"/>
              </a:ext>
            </a:extLst>
          </p:cNvPr>
          <p:cNvCxnSpPr>
            <a:cxnSpLocks/>
          </p:cNvCxnSpPr>
          <p:nvPr/>
        </p:nvCxnSpPr>
        <p:spPr>
          <a:xfrm>
            <a:off x="1353872" y="687379"/>
            <a:ext cx="661969" cy="90993"/>
          </a:xfrm>
          <a:prstGeom prst="bentConnector3">
            <a:avLst>
              <a:gd name="adj1" fmla="val -18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7FA3797-9295-532D-E7C5-4B136C24AB86}"/>
              </a:ext>
            </a:extLst>
          </p:cNvPr>
          <p:cNvSpPr txBox="1"/>
          <p:nvPr/>
        </p:nvSpPr>
        <p:spPr>
          <a:xfrm>
            <a:off x="2039793" y="618485"/>
            <a:ext cx="6367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min_val</a:t>
            </a:r>
            <a:endParaRPr lang="en-US" sz="1100" dirty="0">
              <a:latin typeface="Cascadia Mono Light" panose="020B0609020000020004" pitchFamily="49" charset="0"/>
              <a:ea typeface="Cascadia Mono Light" panose="020B0609020000020004" pitchFamily="49" charset="0"/>
              <a:cs typeface="Cascadia Mono Light" panose="020B0609020000020004" pitchFamily="49" charset="0"/>
            </a:endParaRP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81FDD1DE-E2FB-2C4E-64F1-C464FF830BAD}"/>
              </a:ext>
            </a:extLst>
          </p:cNvPr>
          <p:cNvCxnSpPr>
            <a:cxnSpLocks/>
            <a:stCxn id="44" idx="2"/>
          </p:cNvCxnSpPr>
          <p:nvPr/>
        </p:nvCxnSpPr>
        <p:spPr>
          <a:xfrm rot="16200000" flipH="1">
            <a:off x="3426669" y="870979"/>
            <a:ext cx="117126" cy="66523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E0CDB365-EA2B-A83D-6FB0-AA71257D4DB2}"/>
              </a:ext>
            </a:extLst>
          </p:cNvPr>
          <p:cNvSpPr txBox="1"/>
          <p:nvPr/>
        </p:nvSpPr>
        <p:spPr>
          <a:xfrm>
            <a:off x="3788482" y="1103061"/>
            <a:ext cx="113204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expression: “20”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EADEFC0-80C5-27CF-E9AD-5D78498BA8E2}"/>
              </a:ext>
            </a:extLst>
          </p:cNvPr>
          <p:cNvSpPr txBox="1"/>
          <p:nvPr/>
        </p:nvSpPr>
        <p:spPr>
          <a:xfrm>
            <a:off x="99843" y="108717"/>
            <a:ext cx="110158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constraints</a:t>
            </a:r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4782778D-7440-834B-3246-CB828C2EEAB6}"/>
              </a:ext>
            </a:extLst>
          </p:cNvPr>
          <p:cNvCxnSpPr>
            <a:cxnSpLocks/>
          </p:cNvCxnSpPr>
          <p:nvPr/>
        </p:nvCxnSpPr>
        <p:spPr>
          <a:xfrm>
            <a:off x="2238823" y="883065"/>
            <a:ext cx="661075" cy="137458"/>
          </a:xfrm>
          <a:prstGeom prst="bentConnector3">
            <a:avLst>
              <a:gd name="adj1" fmla="val -153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ACA9982C-1183-3516-3426-B1C2966BB475}"/>
              </a:ext>
            </a:extLst>
          </p:cNvPr>
          <p:cNvSpPr txBox="1"/>
          <p:nvPr/>
        </p:nvSpPr>
        <p:spPr>
          <a:xfrm>
            <a:off x="2851892" y="883422"/>
            <a:ext cx="60144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[[1]]</a:t>
            </a:r>
          </a:p>
        </p:txBody>
      </p:sp>
    </p:spTree>
    <p:extLst>
      <p:ext uri="{BB962C8B-B14F-4D97-AF65-F5344CB8AC3E}">
        <p14:creationId xmlns:p14="http://schemas.microsoft.com/office/powerpoint/2010/main" val="2910598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1CC55CFD-19EC-6C9D-9D5C-673CE1C5917E}"/>
              </a:ext>
            </a:extLst>
          </p:cNvPr>
          <p:cNvCxnSpPr>
            <a:cxnSpLocks/>
          </p:cNvCxnSpPr>
          <p:nvPr/>
        </p:nvCxnSpPr>
        <p:spPr>
          <a:xfrm>
            <a:off x="456996" y="356047"/>
            <a:ext cx="661075" cy="137458"/>
          </a:xfrm>
          <a:prstGeom prst="bentConnector3">
            <a:avLst>
              <a:gd name="adj1" fmla="val -153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9B4BA4A-818C-510D-BAC1-E974AE9D3422}"/>
              </a:ext>
            </a:extLst>
          </p:cNvPr>
          <p:cNvSpPr txBox="1"/>
          <p:nvPr/>
        </p:nvSpPr>
        <p:spPr>
          <a:xfrm>
            <a:off x="1045711" y="356875"/>
            <a:ext cx="114486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setback_side_int</a:t>
            </a:r>
            <a:endParaRPr lang="en-US" sz="1100" dirty="0">
              <a:latin typeface="Cascadia Mono Light" panose="020B0609020000020004" pitchFamily="49" charset="0"/>
              <a:ea typeface="Cascadia Mono Light" panose="020B0609020000020004" pitchFamily="49" charset="0"/>
              <a:cs typeface="Cascadia Mono Light" panose="020B0609020000020004" pitchFamily="49" charset="0"/>
            </a:endParaRP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AB6D1EFA-BA9A-AD8D-5DD2-3576A30534A8}"/>
              </a:ext>
            </a:extLst>
          </p:cNvPr>
          <p:cNvCxnSpPr>
            <a:cxnSpLocks/>
          </p:cNvCxnSpPr>
          <p:nvPr/>
        </p:nvCxnSpPr>
        <p:spPr>
          <a:xfrm>
            <a:off x="1353872" y="687379"/>
            <a:ext cx="661969" cy="90993"/>
          </a:xfrm>
          <a:prstGeom prst="bentConnector3">
            <a:avLst>
              <a:gd name="adj1" fmla="val -18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7FA3797-9295-532D-E7C5-4B136C24AB86}"/>
              </a:ext>
            </a:extLst>
          </p:cNvPr>
          <p:cNvSpPr txBox="1"/>
          <p:nvPr/>
        </p:nvSpPr>
        <p:spPr>
          <a:xfrm>
            <a:off x="2039793" y="618485"/>
            <a:ext cx="6367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min_val</a:t>
            </a:r>
            <a:endParaRPr lang="en-US" sz="1100" dirty="0">
              <a:latin typeface="Cascadia Mono Light" panose="020B0609020000020004" pitchFamily="49" charset="0"/>
              <a:ea typeface="Cascadia Mono Light" panose="020B0609020000020004" pitchFamily="49" charset="0"/>
              <a:cs typeface="Cascadia Mono Light" panose="020B0609020000020004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EADEFC0-80C5-27CF-E9AD-5D78498BA8E2}"/>
              </a:ext>
            </a:extLst>
          </p:cNvPr>
          <p:cNvSpPr txBox="1"/>
          <p:nvPr/>
        </p:nvSpPr>
        <p:spPr>
          <a:xfrm>
            <a:off x="99843" y="108717"/>
            <a:ext cx="110158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constraints</a:t>
            </a:r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4782778D-7440-834B-3246-CB828C2EEAB6}"/>
              </a:ext>
            </a:extLst>
          </p:cNvPr>
          <p:cNvCxnSpPr>
            <a:cxnSpLocks/>
          </p:cNvCxnSpPr>
          <p:nvPr/>
        </p:nvCxnSpPr>
        <p:spPr>
          <a:xfrm>
            <a:off x="2238823" y="883065"/>
            <a:ext cx="661075" cy="137458"/>
          </a:xfrm>
          <a:prstGeom prst="bentConnector3">
            <a:avLst>
              <a:gd name="adj1" fmla="val -153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ACA9982C-1183-3516-3426-B1C2966BB475}"/>
              </a:ext>
            </a:extLst>
          </p:cNvPr>
          <p:cNvSpPr txBox="1"/>
          <p:nvPr/>
        </p:nvSpPr>
        <p:spPr>
          <a:xfrm>
            <a:off x="2851892" y="883422"/>
            <a:ext cx="60144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[[1]]</a:t>
            </a:r>
          </a:p>
        </p:txBody>
      </p:sp>
      <p:cxnSp>
        <p:nvCxnSpPr>
          <p:cNvPr id="2" name="Connector: Elbow 6">
            <a:extLst>
              <a:ext uri="{FF2B5EF4-FFF2-40B4-BE49-F238E27FC236}">
                <a16:creationId xmlns:a16="http://schemas.microsoft.com/office/drawing/2014/main" id="{A0117CAB-6576-1133-6C4C-62CBC941345E}"/>
              </a:ext>
            </a:extLst>
          </p:cNvPr>
          <p:cNvCxnSpPr>
            <a:cxnSpLocks/>
            <a:stCxn id="44" idx="2"/>
          </p:cNvCxnSpPr>
          <p:nvPr/>
        </p:nvCxnSpPr>
        <p:spPr>
          <a:xfrm rot="16200000" flipH="1">
            <a:off x="3340614" y="957034"/>
            <a:ext cx="322498" cy="69849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5A46A2E-1226-FB72-A947-FEE7A5E7BEFA}"/>
              </a:ext>
            </a:extLst>
          </p:cNvPr>
          <p:cNvSpPr txBox="1"/>
          <p:nvPr/>
        </p:nvSpPr>
        <p:spPr>
          <a:xfrm>
            <a:off x="3811354" y="1145032"/>
            <a:ext cx="229261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expression: [ “5”, ”0.1 * </a:t>
            </a:r>
            <a:r>
              <a:rPr lang="en-US" sz="1100" dirty="0" err="1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lot_width</a:t>
            </a:r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” ] </a:t>
            </a:r>
          </a:p>
          <a:p>
            <a:r>
              <a:rPr lang="en-US" sz="1100" dirty="0" err="1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min_max</a:t>
            </a:r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: “max”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8262C71-DD9C-300F-A4DA-0061E14183A5}"/>
              </a:ext>
            </a:extLst>
          </p:cNvPr>
          <p:cNvCxnSpPr>
            <a:cxnSpLocks/>
          </p:cNvCxnSpPr>
          <p:nvPr/>
        </p:nvCxnSpPr>
        <p:spPr>
          <a:xfrm>
            <a:off x="3162686" y="1293395"/>
            <a:ext cx="6821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2529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1CC55CFD-19EC-6C9D-9D5C-673CE1C5917E}"/>
              </a:ext>
            </a:extLst>
          </p:cNvPr>
          <p:cNvCxnSpPr>
            <a:cxnSpLocks/>
          </p:cNvCxnSpPr>
          <p:nvPr/>
        </p:nvCxnSpPr>
        <p:spPr>
          <a:xfrm>
            <a:off x="456996" y="356047"/>
            <a:ext cx="661075" cy="137458"/>
          </a:xfrm>
          <a:prstGeom prst="bentConnector3">
            <a:avLst>
              <a:gd name="adj1" fmla="val -153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9B4BA4A-818C-510D-BAC1-E974AE9D3422}"/>
              </a:ext>
            </a:extLst>
          </p:cNvPr>
          <p:cNvSpPr txBox="1"/>
          <p:nvPr/>
        </p:nvSpPr>
        <p:spPr>
          <a:xfrm>
            <a:off x="1045711" y="356875"/>
            <a:ext cx="114486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setback_side_int</a:t>
            </a:r>
            <a:endParaRPr lang="en-US" sz="1100" dirty="0">
              <a:latin typeface="Cascadia Mono Light" panose="020B0609020000020004" pitchFamily="49" charset="0"/>
              <a:ea typeface="Cascadia Mono Light" panose="020B0609020000020004" pitchFamily="49" charset="0"/>
              <a:cs typeface="Cascadia Mono Light" panose="020B0609020000020004" pitchFamily="49" charset="0"/>
            </a:endParaRP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AB6D1EFA-BA9A-AD8D-5DD2-3576A30534A8}"/>
              </a:ext>
            </a:extLst>
          </p:cNvPr>
          <p:cNvCxnSpPr>
            <a:cxnSpLocks/>
          </p:cNvCxnSpPr>
          <p:nvPr/>
        </p:nvCxnSpPr>
        <p:spPr>
          <a:xfrm>
            <a:off x="1353872" y="687379"/>
            <a:ext cx="661969" cy="90993"/>
          </a:xfrm>
          <a:prstGeom prst="bentConnector3">
            <a:avLst>
              <a:gd name="adj1" fmla="val -18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7FA3797-9295-532D-E7C5-4B136C24AB86}"/>
              </a:ext>
            </a:extLst>
          </p:cNvPr>
          <p:cNvSpPr txBox="1"/>
          <p:nvPr/>
        </p:nvSpPr>
        <p:spPr>
          <a:xfrm>
            <a:off x="2039793" y="618485"/>
            <a:ext cx="6367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min_val</a:t>
            </a:r>
            <a:endParaRPr lang="en-US" sz="1100" dirty="0">
              <a:latin typeface="Cascadia Mono Light" panose="020B0609020000020004" pitchFamily="49" charset="0"/>
              <a:ea typeface="Cascadia Mono Light" panose="020B0609020000020004" pitchFamily="49" charset="0"/>
              <a:cs typeface="Cascadia Mono Light" panose="020B0609020000020004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EADEFC0-80C5-27CF-E9AD-5D78498BA8E2}"/>
              </a:ext>
            </a:extLst>
          </p:cNvPr>
          <p:cNvSpPr txBox="1"/>
          <p:nvPr/>
        </p:nvSpPr>
        <p:spPr>
          <a:xfrm>
            <a:off x="99843" y="108717"/>
            <a:ext cx="110158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constraints</a:t>
            </a:r>
          </a:p>
        </p:txBody>
      </p:sp>
      <p:cxnSp>
        <p:nvCxnSpPr>
          <p:cNvPr id="5" name="Connector: Elbow 6">
            <a:extLst>
              <a:ext uri="{FF2B5EF4-FFF2-40B4-BE49-F238E27FC236}">
                <a16:creationId xmlns:a16="http://schemas.microsoft.com/office/drawing/2014/main" id="{EC699288-6200-15F9-8E03-10914E310C8B}"/>
              </a:ext>
            </a:extLst>
          </p:cNvPr>
          <p:cNvCxnSpPr>
            <a:cxnSpLocks/>
            <a:stCxn id="12" idx="2"/>
          </p:cNvCxnSpPr>
          <p:nvPr/>
        </p:nvCxnSpPr>
        <p:spPr>
          <a:xfrm rot="16200000" flipH="1">
            <a:off x="3384312" y="974852"/>
            <a:ext cx="269886" cy="68753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A4C91FC-8FEA-BCE3-47AB-5C3478CBF8E9}"/>
              </a:ext>
            </a:extLst>
          </p:cNvPr>
          <p:cNvSpPr txBox="1"/>
          <p:nvPr/>
        </p:nvSpPr>
        <p:spPr>
          <a:xfrm>
            <a:off x="3811354" y="114170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condition: “height &lt;= 35”</a:t>
            </a:r>
          </a:p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expression: “25”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80FFD52-D26D-A55D-7996-EB97F067EEA8}"/>
              </a:ext>
            </a:extLst>
          </p:cNvPr>
          <p:cNvCxnSpPr>
            <a:cxnSpLocks/>
          </p:cNvCxnSpPr>
          <p:nvPr/>
        </p:nvCxnSpPr>
        <p:spPr>
          <a:xfrm>
            <a:off x="3183468" y="1290068"/>
            <a:ext cx="6821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C5AB0F4-9086-CAC6-3A0B-7EC07F2ACF83}"/>
              </a:ext>
            </a:extLst>
          </p:cNvPr>
          <p:cNvSpPr txBox="1"/>
          <p:nvPr/>
        </p:nvSpPr>
        <p:spPr>
          <a:xfrm>
            <a:off x="2874764" y="922066"/>
            <a:ext cx="60144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[[1]]</a:t>
            </a:r>
          </a:p>
        </p:txBody>
      </p:sp>
      <p:cxnSp>
        <p:nvCxnSpPr>
          <p:cNvPr id="23" name="Connector: Elbow 6">
            <a:extLst>
              <a:ext uri="{FF2B5EF4-FFF2-40B4-BE49-F238E27FC236}">
                <a16:creationId xmlns:a16="http://schemas.microsoft.com/office/drawing/2014/main" id="{761A36B6-B1D6-4B5F-1835-312E58D5F735}"/>
              </a:ext>
            </a:extLst>
          </p:cNvPr>
          <p:cNvCxnSpPr>
            <a:cxnSpLocks/>
            <a:stCxn id="27" idx="2"/>
          </p:cNvCxnSpPr>
          <p:nvPr/>
        </p:nvCxnSpPr>
        <p:spPr>
          <a:xfrm rot="16200000" flipH="1">
            <a:off x="3381505" y="1797237"/>
            <a:ext cx="269886" cy="69314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07050D-1F25-4AF3-01F0-D58F7146A739}"/>
              </a:ext>
            </a:extLst>
          </p:cNvPr>
          <p:cNvSpPr txBox="1"/>
          <p:nvPr/>
        </p:nvSpPr>
        <p:spPr>
          <a:xfrm>
            <a:off x="3811354" y="1966895"/>
            <a:ext cx="19944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condition: “height &gt; 35”</a:t>
            </a:r>
          </a:p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expression: “25 + (height – 35)”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7129E6E-0C69-D44B-0DB3-C347271F5D74}"/>
              </a:ext>
            </a:extLst>
          </p:cNvPr>
          <p:cNvCxnSpPr>
            <a:cxnSpLocks/>
          </p:cNvCxnSpPr>
          <p:nvPr/>
        </p:nvCxnSpPr>
        <p:spPr>
          <a:xfrm>
            <a:off x="3183468" y="2115258"/>
            <a:ext cx="6821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or: Elbow 12">
            <a:extLst>
              <a:ext uri="{FF2B5EF4-FFF2-40B4-BE49-F238E27FC236}">
                <a16:creationId xmlns:a16="http://schemas.microsoft.com/office/drawing/2014/main" id="{9A5D13D5-C9A0-A000-C6DC-C6A452722C7B}"/>
              </a:ext>
            </a:extLst>
          </p:cNvPr>
          <p:cNvCxnSpPr>
            <a:cxnSpLocks/>
          </p:cNvCxnSpPr>
          <p:nvPr/>
        </p:nvCxnSpPr>
        <p:spPr>
          <a:xfrm rot="16200000" flipH="1">
            <a:off x="2109593" y="1071181"/>
            <a:ext cx="962646" cy="663706"/>
          </a:xfrm>
          <a:prstGeom prst="bentConnector3">
            <a:avLst>
              <a:gd name="adj1" fmla="val 10013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F3A51A04-B881-F69D-7234-02E29FF7E7FE}"/>
              </a:ext>
            </a:extLst>
          </p:cNvPr>
          <p:cNvSpPr txBox="1"/>
          <p:nvPr/>
        </p:nvSpPr>
        <p:spPr>
          <a:xfrm>
            <a:off x="2874764" y="1747256"/>
            <a:ext cx="5902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[[2]]     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C35EA09-EBD3-3F10-3D7B-62A694A958DE}"/>
              </a:ext>
            </a:extLst>
          </p:cNvPr>
          <p:cNvCxnSpPr>
            <a:cxnSpLocks/>
          </p:cNvCxnSpPr>
          <p:nvPr/>
        </p:nvCxnSpPr>
        <p:spPr>
          <a:xfrm>
            <a:off x="2259063" y="1069936"/>
            <a:ext cx="662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96649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1CC55CFD-19EC-6C9D-9D5C-673CE1C5917E}"/>
              </a:ext>
            </a:extLst>
          </p:cNvPr>
          <p:cNvCxnSpPr>
            <a:cxnSpLocks/>
          </p:cNvCxnSpPr>
          <p:nvPr/>
        </p:nvCxnSpPr>
        <p:spPr>
          <a:xfrm>
            <a:off x="456996" y="356047"/>
            <a:ext cx="661075" cy="137458"/>
          </a:xfrm>
          <a:prstGeom prst="bentConnector3">
            <a:avLst>
              <a:gd name="adj1" fmla="val -153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9B4BA4A-818C-510D-BAC1-E974AE9D3422}"/>
              </a:ext>
            </a:extLst>
          </p:cNvPr>
          <p:cNvSpPr txBox="1"/>
          <p:nvPr/>
        </p:nvSpPr>
        <p:spPr>
          <a:xfrm>
            <a:off x="1045711" y="356875"/>
            <a:ext cx="114486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setback_side_int</a:t>
            </a:r>
            <a:endParaRPr lang="en-US" sz="1100" dirty="0">
              <a:latin typeface="Cascadia Mono Light" panose="020B0609020000020004" pitchFamily="49" charset="0"/>
              <a:ea typeface="Cascadia Mono Light" panose="020B0609020000020004" pitchFamily="49" charset="0"/>
              <a:cs typeface="Cascadia Mono Light" panose="020B0609020000020004" pitchFamily="49" charset="0"/>
            </a:endParaRP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AB6D1EFA-BA9A-AD8D-5DD2-3576A30534A8}"/>
              </a:ext>
            </a:extLst>
          </p:cNvPr>
          <p:cNvCxnSpPr>
            <a:cxnSpLocks/>
          </p:cNvCxnSpPr>
          <p:nvPr/>
        </p:nvCxnSpPr>
        <p:spPr>
          <a:xfrm>
            <a:off x="1353872" y="687379"/>
            <a:ext cx="661969" cy="90993"/>
          </a:xfrm>
          <a:prstGeom prst="bentConnector3">
            <a:avLst>
              <a:gd name="adj1" fmla="val -18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7FA3797-9295-532D-E7C5-4B136C24AB86}"/>
              </a:ext>
            </a:extLst>
          </p:cNvPr>
          <p:cNvSpPr txBox="1"/>
          <p:nvPr/>
        </p:nvSpPr>
        <p:spPr>
          <a:xfrm>
            <a:off x="2039793" y="618485"/>
            <a:ext cx="6367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min_val</a:t>
            </a:r>
            <a:endParaRPr lang="en-US" sz="1100" dirty="0">
              <a:latin typeface="Cascadia Mono Light" panose="020B0609020000020004" pitchFamily="49" charset="0"/>
              <a:ea typeface="Cascadia Mono Light" panose="020B0609020000020004" pitchFamily="49" charset="0"/>
              <a:cs typeface="Cascadia Mono Light" panose="020B0609020000020004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EADEFC0-80C5-27CF-E9AD-5D78498BA8E2}"/>
              </a:ext>
            </a:extLst>
          </p:cNvPr>
          <p:cNvSpPr txBox="1"/>
          <p:nvPr/>
        </p:nvSpPr>
        <p:spPr>
          <a:xfrm>
            <a:off x="99843" y="130509"/>
            <a:ext cx="110158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constraints</a:t>
            </a:r>
          </a:p>
        </p:txBody>
      </p:sp>
      <p:cxnSp>
        <p:nvCxnSpPr>
          <p:cNvPr id="5" name="Connector: Elbow 6">
            <a:extLst>
              <a:ext uri="{FF2B5EF4-FFF2-40B4-BE49-F238E27FC236}">
                <a16:creationId xmlns:a16="http://schemas.microsoft.com/office/drawing/2014/main" id="{EC699288-6200-15F9-8E03-10914E310C8B}"/>
              </a:ext>
            </a:extLst>
          </p:cNvPr>
          <p:cNvCxnSpPr>
            <a:cxnSpLocks/>
            <a:stCxn id="12" idx="2"/>
          </p:cNvCxnSpPr>
          <p:nvPr/>
        </p:nvCxnSpPr>
        <p:spPr>
          <a:xfrm rot="16200000" flipH="1">
            <a:off x="3303309" y="1055855"/>
            <a:ext cx="431892" cy="68753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A4C91FC-8FEA-BCE3-47AB-5C3478CBF8E9}"/>
              </a:ext>
            </a:extLst>
          </p:cNvPr>
          <p:cNvSpPr txBox="1"/>
          <p:nvPr/>
        </p:nvSpPr>
        <p:spPr>
          <a:xfrm>
            <a:off x="3811355" y="1141705"/>
            <a:ext cx="228464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condition:</a:t>
            </a:r>
          </a:p>
          <a:p>
            <a:endParaRPr lang="en-US" sz="1100" dirty="0">
              <a:latin typeface="Cascadia Mono Light" panose="020B0609020000020004" pitchFamily="49" charset="0"/>
              <a:ea typeface="Cascadia Mono Light" panose="020B0609020000020004" pitchFamily="49" charset="0"/>
              <a:cs typeface="Cascadia Mono Light" panose="020B0609020000020004" pitchFamily="49" charset="0"/>
            </a:endParaRPr>
          </a:p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expression: “10”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80FFD52-D26D-A55D-7996-EB97F067EEA8}"/>
              </a:ext>
            </a:extLst>
          </p:cNvPr>
          <p:cNvCxnSpPr>
            <a:cxnSpLocks/>
          </p:cNvCxnSpPr>
          <p:nvPr/>
        </p:nvCxnSpPr>
        <p:spPr>
          <a:xfrm>
            <a:off x="3183468" y="1290068"/>
            <a:ext cx="6821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C5AB0F4-9086-CAC6-3A0B-7EC07F2ACF83}"/>
              </a:ext>
            </a:extLst>
          </p:cNvPr>
          <p:cNvSpPr txBox="1"/>
          <p:nvPr/>
        </p:nvSpPr>
        <p:spPr>
          <a:xfrm>
            <a:off x="2874764" y="922066"/>
            <a:ext cx="60144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[[1]]</a:t>
            </a:r>
          </a:p>
        </p:txBody>
      </p:sp>
      <p:cxnSp>
        <p:nvCxnSpPr>
          <p:cNvPr id="26" name="Connector: Elbow 12">
            <a:extLst>
              <a:ext uri="{FF2B5EF4-FFF2-40B4-BE49-F238E27FC236}">
                <a16:creationId xmlns:a16="http://schemas.microsoft.com/office/drawing/2014/main" id="{9A5D13D5-C9A0-A000-C6DC-C6A452722C7B}"/>
              </a:ext>
            </a:extLst>
          </p:cNvPr>
          <p:cNvCxnSpPr>
            <a:cxnSpLocks/>
          </p:cNvCxnSpPr>
          <p:nvPr/>
        </p:nvCxnSpPr>
        <p:spPr>
          <a:xfrm rot="16200000" flipH="1">
            <a:off x="1181207" y="1958303"/>
            <a:ext cx="2801923" cy="681201"/>
          </a:xfrm>
          <a:prstGeom prst="bentConnector3">
            <a:avLst>
              <a:gd name="adj1" fmla="val 9989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C35EA09-EBD3-3F10-3D7B-62A694A958DE}"/>
              </a:ext>
            </a:extLst>
          </p:cNvPr>
          <p:cNvCxnSpPr>
            <a:cxnSpLocks/>
          </p:cNvCxnSpPr>
          <p:nvPr/>
        </p:nvCxnSpPr>
        <p:spPr>
          <a:xfrm>
            <a:off x="2248553" y="1069936"/>
            <a:ext cx="662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EA0CFA3-0497-18A9-C3BF-49E34CEE37B6}"/>
              </a:ext>
            </a:extLst>
          </p:cNvPr>
          <p:cNvSpPr txBox="1"/>
          <p:nvPr/>
        </p:nvSpPr>
        <p:spPr>
          <a:xfrm>
            <a:off x="4414042" y="1147092"/>
            <a:ext cx="36452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“Along any public streets except long residential streets (category C) and residential mew streets (category D)”</a:t>
            </a:r>
          </a:p>
        </p:txBody>
      </p:sp>
      <p:cxnSp>
        <p:nvCxnSpPr>
          <p:cNvPr id="8" name="Connector: Elbow 6">
            <a:extLst>
              <a:ext uri="{FF2B5EF4-FFF2-40B4-BE49-F238E27FC236}">
                <a16:creationId xmlns:a16="http://schemas.microsoft.com/office/drawing/2014/main" id="{5CB6D57B-D6D2-18F3-FBCC-93CA6519DE8F}"/>
              </a:ext>
            </a:extLst>
          </p:cNvPr>
          <p:cNvCxnSpPr>
            <a:cxnSpLocks/>
            <a:stCxn id="13" idx="2"/>
          </p:cNvCxnSpPr>
          <p:nvPr/>
        </p:nvCxnSpPr>
        <p:spPr>
          <a:xfrm rot="16200000" flipH="1">
            <a:off x="3306980" y="1977003"/>
            <a:ext cx="434966" cy="67711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0EE6D50-9124-9E9D-07EF-27FCEE259334}"/>
              </a:ext>
            </a:extLst>
          </p:cNvPr>
          <p:cNvSpPr txBox="1"/>
          <p:nvPr/>
        </p:nvSpPr>
        <p:spPr>
          <a:xfrm>
            <a:off x="3811355" y="2056105"/>
            <a:ext cx="228464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condition:</a:t>
            </a:r>
          </a:p>
          <a:p>
            <a:endParaRPr lang="en-US" sz="1100" dirty="0">
              <a:latin typeface="Cascadia Mono Light" panose="020B0609020000020004" pitchFamily="49" charset="0"/>
              <a:ea typeface="Cascadia Mono Light" panose="020B0609020000020004" pitchFamily="49" charset="0"/>
              <a:cs typeface="Cascadia Mono Light" panose="020B0609020000020004" pitchFamily="49" charset="0"/>
            </a:endParaRPr>
          </a:p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expression: “5”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45E3636-9A6C-21BF-58A8-A338FF509232}"/>
              </a:ext>
            </a:extLst>
          </p:cNvPr>
          <p:cNvCxnSpPr>
            <a:cxnSpLocks/>
          </p:cNvCxnSpPr>
          <p:nvPr/>
        </p:nvCxnSpPr>
        <p:spPr>
          <a:xfrm>
            <a:off x="3183468" y="2204468"/>
            <a:ext cx="6821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454DC6C-B5D5-16D8-0E00-838F8BAF109C}"/>
              </a:ext>
            </a:extLst>
          </p:cNvPr>
          <p:cNvSpPr txBox="1"/>
          <p:nvPr/>
        </p:nvSpPr>
        <p:spPr>
          <a:xfrm>
            <a:off x="2874764" y="1836466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[[2]]     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768BFB3-B4AE-1ADE-AE89-0A9B1D7A896E}"/>
              </a:ext>
            </a:extLst>
          </p:cNvPr>
          <p:cNvCxnSpPr>
            <a:cxnSpLocks/>
          </p:cNvCxnSpPr>
          <p:nvPr/>
        </p:nvCxnSpPr>
        <p:spPr>
          <a:xfrm>
            <a:off x="2248553" y="1984336"/>
            <a:ext cx="662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959F06D-C63C-AE41-5499-5683867AA86F}"/>
              </a:ext>
            </a:extLst>
          </p:cNvPr>
          <p:cNvSpPr txBox="1"/>
          <p:nvPr/>
        </p:nvSpPr>
        <p:spPr>
          <a:xfrm>
            <a:off x="4414042" y="2061492"/>
            <a:ext cx="36452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["Along a residential street (category C)", </a:t>
            </a:r>
          </a:p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"Building fronts public open space”]</a:t>
            </a:r>
          </a:p>
        </p:txBody>
      </p:sp>
      <p:cxnSp>
        <p:nvCxnSpPr>
          <p:cNvPr id="17" name="Connector: Elbow 6">
            <a:extLst>
              <a:ext uri="{FF2B5EF4-FFF2-40B4-BE49-F238E27FC236}">
                <a16:creationId xmlns:a16="http://schemas.microsoft.com/office/drawing/2014/main" id="{E5162C17-48B6-4847-FA5F-171678B4218D}"/>
              </a:ext>
            </a:extLst>
          </p:cNvPr>
          <p:cNvCxnSpPr>
            <a:cxnSpLocks/>
            <a:stCxn id="22" idx="2"/>
          </p:cNvCxnSpPr>
          <p:nvPr/>
        </p:nvCxnSpPr>
        <p:spPr>
          <a:xfrm rot="16200000" flipH="1">
            <a:off x="3391499" y="2869946"/>
            <a:ext cx="265928" cy="67711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55D68A7-6363-053E-7814-B78F8FD5A317}"/>
              </a:ext>
            </a:extLst>
          </p:cNvPr>
          <p:cNvSpPr txBox="1"/>
          <p:nvPr/>
        </p:nvSpPr>
        <p:spPr>
          <a:xfrm>
            <a:off x="3811355" y="3033567"/>
            <a:ext cx="228464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condition:</a:t>
            </a:r>
          </a:p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expression: “8”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F6C20E5-5EF4-4C1E-93A4-106ADA9609D0}"/>
              </a:ext>
            </a:extLst>
          </p:cNvPr>
          <p:cNvCxnSpPr>
            <a:cxnSpLocks/>
          </p:cNvCxnSpPr>
          <p:nvPr/>
        </p:nvCxnSpPr>
        <p:spPr>
          <a:xfrm>
            <a:off x="3183468" y="3181930"/>
            <a:ext cx="6821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DE4B930-270C-E3BD-FC3D-831A77B6E6B7}"/>
              </a:ext>
            </a:extLst>
          </p:cNvPr>
          <p:cNvSpPr txBox="1"/>
          <p:nvPr/>
        </p:nvSpPr>
        <p:spPr>
          <a:xfrm>
            <a:off x="2874764" y="2813928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[[3]]      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1ABF4F9-DD1D-AD08-5051-E6EDC5C1A082}"/>
              </a:ext>
            </a:extLst>
          </p:cNvPr>
          <p:cNvCxnSpPr>
            <a:cxnSpLocks/>
          </p:cNvCxnSpPr>
          <p:nvPr/>
        </p:nvCxnSpPr>
        <p:spPr>
          <a:xfrm>
            <a:off x="2248553" y="2961798"/>
            <a:ext cx="6625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5571144-411F-4DA8-ECE4-EF88C1F3B6D8}"/>
              </a:ext>
            </a:extLst>
          </p:cNvPr>
          <p:cNvSpPr txBox="1"/>
          <p:nvPr/>
        </p:nvSpPr>
        <p:spPr>
          <a:xfrm>
            <a:off x="4414041" y="3028443"/>
            <a:ext cx="33045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"Along a residential street (category C)”</a:t>
            </a:r>
          </a:p>
        </p:txBody>
      </p:sp>
      <p:cxnSp>
        <p:nvCxnSpPr>
          <p:cNvPr id="38" name="Connector: Elbow 6">
            <a:extLst>
              <a:ext uri="{FF2B5EF4-FFF2-40B4-BE49-F238E27FC236}">
                <a16:creationId xmlns:a16="http://schemas.microsoft.com/office/drawing/2014/main" id="{05A2DC58-7CFA-02C6-B89F-0A5A3EEE2806}"/>
              </a:ext>
            </a:extLst>
          </p:cNvPr>
          <p:cNvCxnSpPr>
            <a:cxnSpLocks/>
            <a:stCxn id="41" idx="2"/>
          </p:cNvCxnSpPr>
          <p:nvPr/>
        </p:nvCxnSpPr>
        <p:spPr>
          <a:xfrm rot="16200000" flipH="1">
            <a:off x="3387344" y="3630846"/>
            <a:ext cx="274238" cy="67711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D133DC8-F008-CF7F-4C2A-2587377759CF}"/>
              </a:ext>
            </a:extLst>
          </p:cNvPr>
          <p:cNvSpPr txBox="1"/>
          <p:nvPr/>
        </p:nvSpPr>
        <p:spPr>
          <a:xfrm>
            <a:off x="3811355" y="3790312"/>
            <a:ext cx="390725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condition: “Along a residential mew street (category D)”</a:t>
            </a:r>
          </a:p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expression: “0”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D58A0C8-6907-1F61-9E68-F86A2787381B}"/>
              </a:ext>
            </a:extLst>
          </p:cNvPr>
          <p:cNvCxnSpPr>
            <a:cxnSpLocks/>
          </p:cNvCxnSpPr>
          <p:nvPr/>
        </p:nvCxnSpPr>
        <p:spPr>
          <a:xfrm>
            <a:off x="3183468" y="3938675"/>
            <a:ext cx="6821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90E7460-5452-E4EE-0889-828B0F197F9A}"/>
              </a:ext>
            </a:extLst>
          </p:cNvPr>
          <p:cNvSpPr txBox="1"/>
          <p:nvPr/>
        </p:nvSpPr>
        <p:spPr>
          <a:xfrm>
            <a:off x="2874764" y="3570673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[[4]]      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463946-0ED3-7F1A-5310-8136B5109315}"/>
              </a:ext>
            </a:extLst>
          </p:cNvPr>
          <p:cNvSpPr txBox="1"/>
          <p:nvPr/>
        </p:nvSpPr>
        <p:spPr>
          <a:xfrm>
            <a:off x="7377958" y="7011865"/>
            <a:ext cx="3794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scadia Mono Light" panose="020B0609020000020004" pitchFamily="49" charset="0"/>
                <a:ea typeface="Cascadia Mono Light" panose="020B0609020000020004" pitchFamily="49" charset="0"/>
                <a:cs typeface="Cascadia Mono Light" panose="020B0609020000020004" pitchFamily="49" charset="0"/>
              </a:rPr>
              <a:t>“Along a residential mew street (category D)”</a:t>
            </a:r>
          </a:p>
        </p:txBody>
      </p:sp>
    </p:spTree>
    <p:extLst>
      <p:ext uri="{BB962C8B-B14F-4D97-AF65-F5344CB8AC3E}">
        <p14:creationId xmlns:p14="http://schemas.microsoft.com/office/powerpoint/2010/main" val="915845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649</TotalTime>
  <Words>209</Words>
  <Application>Microsoft Macintosh PowerPoint</Application>
  <PresentationFormat>Widescreen</PresentationFormat>
  <Paragraphs>42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Cascadia Mono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GSD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Voulgaris, Carole Turley</dc:creator>
  <cp:lastModifiedBy>Mansfield, Kamryn Wyatt</cp:lastModifiedBy>
  <cp:revision>22</cp:revision>
  <dcterms:created xsi:type="dcterms:W3CDTF">2025-05-05T19:50:19Z</dcterms:created>
  <dcterms:modified xsi:type="dcterms:W3CDTF">2025-07-14T20:58:34Z</dcterms:modified>
</cp:coreProperties>
</file>